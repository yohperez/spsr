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8600"/>
            <a:ext cx="1463040" cy="146304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743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VitaBeat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365760" y="14173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Prevención de Soledad y Riesgo en Personas Mayores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2011680"/>
            <a:ext cx="41148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1031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Aplicada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  ·  Regresión Lineal  ·  Red Neuronal RNN/MLP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9260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tranquilidad, su seguridad.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8600" y="4160520"/>
            <a:ext cx="1417320" cy="0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4160520"/>
            <a:ext cx="274320" cy="0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20240" y="4160520"/>
            <a:ext cx="228600" cy="-640080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8840" y="3520440"/>
            <a:ext cx="182880" cy="914400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31720" y="4434840"/>
            <a:ext cx="155448" cy="-1033272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87168" y="3401568"/>
            <a:ext cx="210312" cy="1060704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7480" y="4462272"/>
            <a:ext cx="210312" cy="-301752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07792" y="4160520"/>
            <a:ext cx="1207008" cy="0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0" y="4160520"/>
            <a:ext cx="4572000" cy="0"/>
          </a:xfrm>
          <a:prstGeom prst="line">
            <a:avLst/>
          </a:prstGeom>
          <a:noFill/>
          <a:ln w="27940">
            <a:solidFill>
              <a:srgbClr val="3ECF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700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 ·  10–15 min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31520" cy="7315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60120"/>
            <a:ext cx="2651760" cy="109728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mayores de 65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viven solos en España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960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96012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+29%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333756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riesgo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coronaria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960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960120"/>
            <a:ext cx="265176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621792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mujeres &gt;80 años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soledad extrema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aislamiento social no detectado a tiempo deriva en hospitalización de urgencia, deterioro cognitivo y pérdida de autonomía.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VitaBeat detecta el riesgo antes de que ocurra — no después.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VitaBeat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31520" cy="7315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2606040" cy="3017520"/>
          </a:xfrm>
          <a:prstGeom prst="rect">
            <a:avLst/>
          </a:prstGeom>
          <a:solidFill>
            <a:srgbClr val="11224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 de Decisión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 riesgo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aislamiento: Bajo/Medio/Alto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6 variables sociales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3291840"/>
            <a:ext cx="18745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3101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~85%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005840"/>
            <a:ext cx="2606040" cy="30175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29184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Regresión Lineal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22402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días hasta 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declive del bienestar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intervención social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0" y="3291840"/>
            <a:ext cx="18745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0" y="33101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~1.8d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1005840"/>
            <a:ext cx="2606040" cy="3017520"/>
          </a:xfrm>
          <a:prstGeom prst="rect">
            <a:avLst/>
          </a:prstGeom>
          <a:solidFill>
            <a:srgbClr val="112240"/>
          </a:solidFill>
          <a:ln w="19050">
            <a:solidFill>
              <a:srgbClr val="3EC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12648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Neuronal MLP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26480" y="22402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anomalías 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del hogar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(luz + agua, 7 días)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92240" y="3291840"/>
            <a:ext cx="1874520" cy="502920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33101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~0.94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+ Historial + Alertas + Exportación PDF/Trello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B5AE"/>
          </a:solidFill>
          <a:ln w="12700">
            <a:solidFill>
              <a:srgbClr val="2AB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y Metodología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31520" cy="7315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Dataset Sintético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840480" cy="219456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llamadas_semana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bienestar_score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+ Reg.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tendencia_cod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uso_luz_dia(×7)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Neuronal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uso_agua_dia(×7)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Neuronal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500–800 muestras · Patrones basados en estudios WHO 2021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Pipeline ML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92040" y="1600200"/>
            <a:ext cx="320040" cy="320040"/>
          </a:xfrm>
          <a:prstGeom prst="ellipse">
            <a:avLst/>
          </a:prstGeom>
          <a:solidFill>
            <a:srgbClr val="2AB5AE"/>
          </a:solidFill>
          <a:ln w="12700">
            <a:solidFill>
              <a:srgbClr val="2AB5A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303520" y="15819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limpieza (Z&gt;3, StandardScaler)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92040" y="2167128"/>
            <a:ext cx="320040" cy="320040"/>
          </a:xfrm>
          <a:prstGeom prst="ellipse">
            <a:avLst/>
          </a:prstGeom>
          <a:solidFill>
            <a:srgbClr val="2AB5AE"/>
          </a:solidFill>
          <a:ln w="12700">
            <a:solidFill>
              <a:srgbClr val="2AB5A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92040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30352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 Train/Test con stratify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892040" y="2734056"/>
            <a:ext cx="320040" cy="320040"/>
          </a:xfrm>
          <a:prstGeom prst="ellipse">
            <a:avLst/>
          </a:prstGeom>
          <a:solidFill>
            <a:srgbClr val="2AB5AE"/>
          </a:solidFill>
          <a:ln w="12700">
            <a:solidFill>
              <a:srgbClr val="2AB5A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9204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303520" y="2715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+ validación cruzada 5-fold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92040" y="3300984"/>
            <a:ext cx="320040" cy="320040"/>
          </a:xfrm>
          <a:prstGeom prst="ellipse">
            <a:avLst/>
          </a:prstGeom>
          <a:solidFill>
            <a:srgbClr val="2AB5AE"/>
          </a:solidFill>
          <a:ln w="12700">
            <a:solidFill>
              <a:srgbClr val="2AB5A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92040" y="3300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303520" y="32826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Accuracy, MAE, AUC-ROC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892040" y="3867912"/>
            <a:ext cx="320040" cy="320040"/>
          </a:xfrm>
          <a:prstGeom prst="ellipse">
            <a:avLst/>
          </a:prstGeom>
          <a:solidFill>
            <a:srgbClr val="2AB5AE"/>
          </a:solidFill>
          <a:ln w="12700">
            <a:solidFill>
              <a:srgbClr val="2AB5A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9204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303520" y="38496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del dashboard VitaBeat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Módulo 1: Árbol de Decisión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31520" cy="7315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Importancia de variables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Llamadas/semana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0" y="1435608"/>
            <a:ext cx="3474720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0" y="1435608"/>
            <a:ext cx="1181405" cy="219456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3716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938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de casa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0" y="2002536"/>
            <a:ext cx="3474720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0" y="2002536"/>
            <a:ext cx="938174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9385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2505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recibidas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0" y="2569464"/>
            <a:ext cx="3474720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0" y="2569464"/>
            <a:ext cx="76443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25054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3072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Act. sociales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0" y="3136392"/>
            <a:ext cx="3474720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0" y="3136392"/>
            <a:ext cx="347472" cy="21945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30723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639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score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0" y="3703320"/>
            <a:ext cx="3474720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0" y="3703320"/>
            <a:ext cx="24323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36393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en test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92240" y="1371600"/>
            <a:ext cx="2377440" cy="713232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92240" y="1408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92240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casos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92240" y="2212848"/>
            <a:ext cx="2377440" cy="713232"/>
          </a:xfrm>
          <a:prstGeom prst="rect">
            <a:avLst/>
          </a:prstGeom>
          <a:solidFill>
            <a:srgbClr val="0D1B2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92240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MEDIO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922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casos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92240" y="3054096"/>
            <a:ext cx="2377440" cy="713232"/>
          </a:xfrm>
          <a:prstGeom prst="rect">
            <a:avLst/>
          </a:prstGeom>
          <a:solidFill>
            <a:srgbClr val="0D1B2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49224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ALTO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49224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casos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4389120"/>
            <a:ext cx="57607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41655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Precisión global: ~85%  ·  Interpretabilidad total para cuidadores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Módulo 2: Regresión Lineal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31520" cy="7315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2606040" cy="1645920"/>
          </a:xfrm>
          <a:prstGeom prst="rect">
            <a:avLst/>
          </a:prstGeom>
          <a:solidFill>
            <a:srgbClr val="112240"/>
          </a:solidFill>
          <a:ln w="19050">
            <a:solidFill>
              <a:srgbClr val="3EC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78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 días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2606040" cy="16459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1078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9184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días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291840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error cuadrático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1005840"/>
            <a:ext cx="2606040" cy="1645920"/>
          </a:xfrm>
          <a:prstGeom prst="rect">
            <a:avLst/>
          </a:prstGeom>
          <a:solidFill>
            <a:srgbClr val="11224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1078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26480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explicada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0A0D1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Caso de demostración — María Rodríguez, 78 años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Bienestar: 6.2/10  ·  Días sin social: 3  ·  Tendencia: Declinando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Predicción: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días hasta nivel crítico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Urgencia: ESTA SEMANA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Módulo 3: Red Neuronal (MLP/RNN)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31520" cy="7315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Arquitectura: 22 → 64 → 32 → 1 (Sigmoid)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828800"/>
            <a:ext cx="347472" cy="3474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286000"/>
            <a:ext cx="347472" cy="3474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743200"/>
            <a:ext cx="347472" cy="3474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200400"/>
            <a:ext cx="347472" cy="3474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3931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features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× luz+agua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estadísticas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103120" y="1371600"/>
            <a:ext cx="347472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03120" y="1920240"/>
            <a:ext cx="347472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03120" y="2468880"/>
            <a:ext cx="347472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03120" y="3017520"/>
            <a:ext cx="347472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11680" y="3931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49040" y="1474470"/>
            <a:ext cx="347472" cy="347472"/>
          </a:xfrm>
          <a:prstGeom prst="ellipse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49040" y="2160270"/>
            <a:ext cx="347472" cy="347472"/>
          </a:xfrm>
          <a:prstGeom prst="ellipse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49040" y="2846070"/>
            <a:ext cx="347472" cy="347472"/>
          </a:xfrm>
          <a:prstGeom prst="ellipse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0" y="3931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neuronas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394960" y="198882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39319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0=normal 1=anomalía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822960" y="2377440"/>
            <a:ext cx="1280160" cy="0"/>
          </a:xfrm>
          <a:prstGeom prst="line">
            <a:avLst/>
          </a:prstGeom>
          <a:noFill/>
          <a:ln w="10160">
            <a:solidFill>
              <a:srgbClr val="112240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2468880" y="2377440"/>
            <a:ext cx="1280160" cy="0"/>
          </a:xfrm>
          <a:prstGeom prst="line">
            <a:avLst/>
          </a:prstGeom>
          <a:noFill/>
          <a:ln w="10160">
            <a:solidFill>
              <a:srgbClr val="112240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4114800" y="2377440"/>
            <a:ext cx="1280160" cy="0"/>
          </a:xfrm>
          <a:prstGeom prst="line">
            <a:avLst/>
          </a:prstGeom>
          <a:noFill/>
          <a:ln w="10160">
            <a:solidFill>
              <a:srgbClr val="112240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6858000" y="1280160"/>
            <a:ext cx="201168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85800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85800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858000" y="2240280"/>
            <a:ext cx="201168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3ECF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8580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858000" y="2724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858000" y="3200400"/>
            <a:ext cx="201168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5800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&lt;8%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858000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507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Caso real: agua domingo = 9L vs media 46L (−78%) → ANOMALÍA DETECTADA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 Demo — Dashboard VitaBeat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31520" cy="7315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05840"/>
            <a:ext cx="2606040" cy="1508760"/>
          </a:xfrm>
          <a:prstGeom prst="rect">
            <a:avLst/>
          </a:prstGeom>
          <a:solidFill>
            <a:srgbClr val="0A0D12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488" y="1097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Panel General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" y="1481328"/>
            <a:ext cx="2377440" cy="27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tiempo real, sensores, alertas y nivel de riesgo global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606040" cy="1508760"/>
          </a:xfrm>
          <a:prstGeom prst="rect">
            <a:avLst/>
          </a:prstGeom>
          <a:solidFill>
            <a:srgbClr val="0A0D12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10128" y="1097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Árbol de Decisión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0128" y="1481328"/>
            <a:ext cx="2377440" cy="27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interactivo, ejecución con IA o fallback local, árbol SVG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35040" y="1005840"/>
            <a:ext cx="2606040" cy="1508760"/>
          </a:xfrm>
          <a:prstGeom prst="rect">
            <a:avLst/>
          </a:prstGeom>
          <a:solidFill>
            <a:srgbClr val="0A0D12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44768" y="1097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Regresión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44768" y="1481328"/>
            <a:ext cx="2377440" cy="27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días, gráfica de curva de declive dinámica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65760" y="2697480"/>
            <a:ext cx="2606040" cy="1508760"/>
          </a:xfrm>
          <a:prstGeom prst="rect">
            <a:avLst/>
          </a:prstGeom>
          <a:solidFill>
            <a:srgbClr val="0A0D12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5488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Red Neuronal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" y="3172968"/>
            <a:ext cx="2377440" cy="27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3246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de 7 días de sensores, análisis MLP, arquitectura visualizada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0" y="2697480"/>
            <a:ext cx="2606040" cy="1508760"/>
          </a:xfrm>
          <a:prstGeom prst="rect">
            <a:avLst/>
          </a:prstGeom>
          <a:solidFill>
            <a:srgbClr val="0A0D12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310128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Historial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10128" y="3172968"/>
            <a:ext cx="2377440" cy="27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10128" y="3246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con filtros, estadísticas y gráfica de tendencia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035040" y="2697480"/>
            <a:ext cx="2606040" cy="1508760"/>
          </a:xfrm>
          <a:prstGeom prst="rect">
            <a:avLst/>
          </a:prstGeom>
          <a:solidFill>
            <a:srgbClr val="0A0D12"/>
          </a:solidFill>
          <a:ln w="12700">
            <a:solidFill>
              <a:srgbClr val="1122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44768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  Alertas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44768" y="3172968"/>
            <a:ext cx="2377440" cy="27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44768" y="3246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reglas configurables con toggle, umbral y log de notificaciones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e Impacto Social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31520" cy="7315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Resultados técnicos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Árbol de Decisión: 85% accuracy, interpretable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Regresión: MAE 1.8 días — planificación anticipada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2532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 Neuronal: AUC 0.94 — detección fiable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3044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web completo con IA integrada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35570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Exportación PDF clínico + Trello integrado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Impacto potencial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92040" y="1508760"/>
            <a:ext cx="731520" cy="502920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508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0" y="1572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hospitalizaciones urgencia evitables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92040" y="2221992"/>
            <a:ext cx="731520" cy="502920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22219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1500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 sin intervención manual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92040" y="2935224"/>
            <a:ext cx="731520" cy="502920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93522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15000" y="2999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integrable con sensores domésticos de bajo coste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92040" y="3648456"/>
            <a:ext cx="731520" cy="502920"/>
          </a:xfrm>
          <a:prstGeom prst="rect">
            <a:avLst/>
          </a:prstGeom>
          <a:solidFill>
            <a:srgbClr val="3ECFC8"/>
          </a:solidFill>
          <a:ln w="12700">
            <a:solidFill>
              <a:srgbClr val="3ECFC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364845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€€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0" y="37124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marginal casi nulo para municipios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566160"/>
            <a:ext cx="1188720" cy="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3566160"/>
            <a:ext cx="274320" cy="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566160"/>
            <a:ext cx="228600" cy="-64008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926080"/>
            <a:ext cx="182880" cy="118872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4114800"/>
            <a:ext cx="155448" cy="-146304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87168" y="2651760"/>
            <a:ext cx="210312" cy="150876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4160520"/>
            <a:ext cx="210312" cy="-59436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7792" y="3566160"/>
            <a:ext cx="1207008" cy="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3566160"/>
            <a:ext cx="4572000" cy="0"/>
          </a:xfrm>
          <a:prstGeom prst="line">
            <a:avLst/>
          </a:prstGeom>
          <a:noFill/>
          <a:ln w="31750">
            <a:solidFill>
              <a:srgbClr val="3ECFC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320040"/>
            <a:ext cx="2560320" cy="2560320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743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VitaBeat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65760" y="13258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detectar el aislamiento a tiempo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salvar una vida.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" y="21945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tranquilidad, su seguridad.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371600" y="4389120"/>
            <a:ext cx="6400800" cy="502920"/>
          </a:xfrm>
          <a:prstGeom prst="rect">
            <a:avLst/>
          </a:prstGeom>
          <a:solidFill>
            <a:srgbClr val="0A0D12"/>
          </a:solidFill>
          <a:ln w="19050">
            <a:solidFill>
              <a:srgbClr val="3ECF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0" y="441655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VitaBeat — Presentación Final</dc:title>
  <dc:subject>PptxGenJS Presentation</dc:subject>
  <dc:creator>Equipo VitaBeat</dc:creator>
  <cp:lastModifiedBy>Equipo VitaBeat</cp:lastModifiedBy>
  <cp:revision>1</cp:revision>
  <dcterms:created xsi:type="dcterms:W3CDTF">2026-03-18T11:44:59Z</dcterms:created>
  <dcterms:modified xsi:type="dcterms:W3CDTF">2026-03-18T11:44:59Z</dcterms:modified>
</cp:coreProperties>
</file>